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1188720"/>
            <a:ext cx="1234440" cy="1234440"/>
          </a:xfrm>
          <a:prstGeom prst="round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188720"/>
            <a:ext cx="1234440" cy="1234440"/>
          </a:xfrm>
          <a:prstGeom prst="roundRect">
            <a:avLst/>
          </a:prstGeom>
          <a:solidFill>
            <a:srgbClr val="5B9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651760"/>
            <a:ext cx="1234440" cy="1234440"/>
          </a:xfrm>
          <a:prstGeom prst="roundRect">
            <a:avLst/>
          </a:prstGeom>
          <a:solidFill>
            <a:srgbClr val="5B9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651760"/>
            <a:ext cx="1234440" cy="1234440"/>
          </a:xfrm>
          <a:prstGeom prst="round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704088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800" b="1">
                <a:solidFill>
                  <a:srgbClr val="FFDC64"/>
                </a:solidFill>
                <a:latin typeface="Aptos"/>
              </a:rPr>
              <a:t>PEQUENOS DIGITALIZADOS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949440" cy="9144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Excel Básico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6583680" cy="11887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500" b="0">
                <a:solidFill>
                  <a:srgbClr val="E0E9F2"/>
                </a:solidFill>
                <a:latin typeface="Aptos"/>
              </a:rPr>
              <a:t>Aprendendo a organizar informações,
criar tabelas e fazer contas simples.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594360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800" b="1">
                <a:solidFill>
                  <a:srgbClr val="FFDC64"/>
                </a:solidFill>
                <a:latin typeface="Aptos"/>
              </a:rPr>
              <a:t>Aula prática • Iniciantes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5943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Gabriel Henrique Correa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O que vamos aprender?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2A3440"/>
                </a:solidFill>
                <a:latin typeface="Aptos"/>
              </a:defRPr>
            </a:pPr>
            <a:r>
              <a:t>•  Reconhecer linhas, colunas e células.</a:t>
            </a:r>
          </a:p>
          <a:p>
            <a:pPr>
              <a:spcAft>
                <a:spcPts val="1500"/>
              </a:spcAft>
              <a:defRPr sz="2300">
                <a:solidFill>
                  <a:srgbClr val="2A3440"/>
                </a:solidFill>
                <a:latin typeface="Aptos"/>
              </a:defRPr>
            </a:pPr>
            <a:r>
              <a:t>•  Preencher uma planilha com informações.</a:t>
            </a:r>
          </a:p>
          <a:p>
            <a:pPr>
              <a:spcAft>
                <a:spcPts val="1500"/>
              </a:spcAft>
              <a:defRPr sz="2300">
                <a:solidFill>
                  <a:srgbClr val="2A3440"/>
                </a:solidFill>
                <a:latin typeface="Aptos"/>
              </a:defRPr>
            </a:pPr>
            <a:r>
              <a:t>•  Deixar a tabela mais organizada e bonita.</a:t>
            </a:r>
          </a:p>
          <a:p>
            <a:pPr>
              <a:spcAft>
                <a:spcPts val="1500"/>
              </a:spcAft>
              <a:defRPr sz="2300">
                <a:solidFill>
                  <a:srgbClr val="2A3440"/>
                </a:solidFill>
                <a:latin typeface="Aptos"/>
              </a:defRPr>
            </a:pPr>
            <a:r>
              <a:t>•  Fazer uma soma usando uma fórmula simples.</a:t>
            </a:r>
          </a:p>
          <a:p>
            <a:pPr>
              <a:spcAft>
                <a:spcPts val="1500"/>
              </a:spcAft>
              <a:defRPr sz="2300">
                <a:solidFill>
                  <a:srgbClr val="2A3440"/>
                </a:solidFill>
                <a:latin typeface="Aptos"/>
              </a:defRPr>
            </a:pPr>
            <a:r>
              <a:t>•  Praticar com uma lista de materiais escolares.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O que é o Excel?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8229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500" b="1">
                <a:solidFill>
                  <a:srgbClr val="2A3440"/>
                </a:solidFill>
                <a:latin typeface="Aptos"/>
              </a:rPr>
              <a:t>O Excel é um programa usado para organizar informações em planilhas.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996696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Podemos criar listas e tabelas.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Podemos fazer contas automaticamente.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Podemos organizar notas, gastos, materiais e muito mais.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4892040"/>
            <a:ext cx="914400" cy="384048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4892040"/>
            <a:ext cx="1188720" cy="384048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Qtd.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4892040"/>
            <a:ext cx="1188720" cy="384048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Preço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5276088"/>
            <a:ext cx="914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300" b="0">
                <a:solidFill>
                  <a:srgbClr val="2A3440"/>
                </a:solidFill>
                <a:latin typeface="Aptos"/>
              </a:rPr>
              <a:t>Lápis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527608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0">
                <a:solidFill>
                  <a:srgbClr val="2A3440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527608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0" dirty="0">
                <a:solidFill>
                  <a:srgbClr val="2A3440"/>
                </a:solidFill>
                <a:latin typeface="Aptos"/>
              </a:rPr>
              <a:t>R$ 3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5660136"/>
            <a:ext cx="914400" cy="384048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300" b="0" dirty="0">
                <a:solidFill>
                  <a:srgbClr val="2A3440"/>
                </a:solidFill>
                <a:latin typeface="Aptos"/>
              </a:rPr>
              <a:t>Borracha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660136"/>
            <a:ext cx="1188720" cy="384048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5660136"/>
            <a:ext cx="1188720" cy="384048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300" b="0" dirty="0">
                <a:solidFill>
                  <a:srgbClr val="2A3440"/>
                </a:solidFill>
                <a:latin typeface="Aptos"/>
              </a:rPr>
              <a:t>R$ 2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Conhecendo a planilha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05840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400" b="1">
                <a:solidFill>
                  <a:srgbClr val="2A3440"/>
                </a:solidFill>
                <a:latin typeface="Aptos"/>
              </a:rPr>
              <a:t>A planilha é formada por: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54864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Colunas: ficam na vertical e usam letras (A, B, C…).</a:t>
            </a:r>
          </a:p>
          <a:p>
            <a:pPr>
              <a:spcAft>
                <a:spcPts val="12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Linhas: ficam na horizontal e usam números (1, 2, 3…).</a:t>
            </a:r>
          </a:p>
          <a:p>
            <a:pPr>
              <a:spcAft>
                <a:spcPts val="12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Célula: é o encontro de uma linha com uma coluna.</a:t>
            </a:r>
          </a:p>
          <a:p>
            <a:pPr>
              <a:spcAft>
                <a:spcPts val="12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Exemplo: a célula B3 fica na coluna B e na linha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868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868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59" y="1554480"/>
            <a:ext cx="868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86868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01168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09759" y="201168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606040"/>
            <a:ext cx="86868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60604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41080" y="260604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59" y="260604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200400"/>
            <a:ext cx="86868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  <a:latin typeface="Apto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0040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41080" y="3200400"/>
            <a:ext cx="868680" cy="594360"/>
          </a:xfrm>
          <a:prstGeom prst="rect">
            <a:avLst/>
          </a:prstGeom>
          <a:solidFill>
            <a:srgbClr val="FFDC64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9759" y="3200400"/>
            <a:ext cx="868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AAB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182880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000" b="1">
                <a:solidFill>
                  <a:srgbClr val="27946A"/>
                </a:solidFill>
                <a:latin typeface="Aptos"/>
              </a:rPr>
              <a:t>B3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Como preencher uma célula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Clique na célula desejada.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Digite uma palavra ou número.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Pressione Enter para confirmar.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Use Tab para avançar para a próxima coluna.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100" b="1">
                <a:solidFill>
                  <a:srgbClr val="27946A"/>
                </a:solidFill>
                <a:latin typeface="Aptos"/>
              </a:rPr>
              <a:t>Exemplo: clique em A1 e digite “Material”.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Vamos montar nossa primeira tabela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100" b="0">
                <a:solidFill>
                  <a:srgbClr val="2A3440"/>
                </a:solidFill>
                <a:latin typeface="Aptos"/>
              </a:rPr>
              <a:t>Digite os títulos e os dados abaixo na planilha: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011680"/>
            <a:ext cx="2926080" cy="59436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011680"/>
            <a:ext cx="2377440" cy="59436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Quantidade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2560320" cy="59436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Preço (R$)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60604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Lápis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60604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606040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3,00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200400"/>
            <a:ext cx="292608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Borracha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200400"/>
            <a:ext cx="237744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200400"/>
            <a:ext cx="256032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2,00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2926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Caderno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7947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3794760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15,00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389120"/>
            <a:ext cx="292608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Régua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389120"/>
            <a:ext cx="237744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389120"/>
            <a:ext cx="2560320" cy="59436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4,00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900" b="1">
                <a:solidFill>
                  <a:srgbClr val="27946A"/>
                </a:solidFill>
                <a:latin typeface="Aptos"/>
              </a:rPr>
              <a:t>Dica: cada informação deve ficar em sua própria célula.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Deixe sua tabela organizada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Selecione a linha dos títulos.</a:t>
            </a:r>
          </a:p>
          <a:p>
            <a:pPr>
              <a:spcAft>
                <a:spcPts val="15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Use Negrito (B) para destacar os títulos.</a:t>
            </a:r>
          </a:p>
          <a:p>
            <a:pPr>
              <a:spcAft>
                <a:spcPts val="15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Escolha uma cor de preenchimento suave.</a:t>
            </a:r>
          </a:p>
          <a:p>
            <a:pPr>
              <a:spcAft>
                <a:spcPts val="15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Ajuste a largura das colunas para mostrar todo o texto.</a:t>
            </a:r>
          </a:p>
          <a:p>
            <a:pPr>
              <a:spcAft>
                <a:spcPts val="15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Mantenha os dados fáceis de 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069080"/>
            <a:ext cx="1828800" cy="438912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4069080"/>
            <a:ext cx="1371600" cy="438912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Qtd.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0" y="4069080"/>
            <a:ext cx="1554480" cy="438912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Preço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50799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500" b="0">
                <a:solidFill>
                  <a:srgbClr val="2A3440"/>
                </a:solidFill>
                <a:latin typeface="Aptos"/>
              </a:rPr>
              <a:t>Lápis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4507992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0">
                <a:solidFill>
                  <a:srgbClr val="2A3440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4507992"/>
            <a:ext cx="1554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0">
                <a:solidFill>
                  <a:srgbClr val="2A3440"/>
                </a:solidFill>
                <a:latin typeface="Aptos"/>
              </a:rPr>
              <a:t>3,00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4946904"/>
            <a:ext cx="1828800" cy="438912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500" b="0">
                <a:solidFill>
                  <a:srgbClr val="2A3440"/>
                </a:solidFill>
                <a:latin typeface="Aptos"/>
              </a:rPr>
              <a:t>Caderno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946904"/>
            <a:ext cx="1371600" cy="438912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4946904"/>
            <a:ext cx="1554480" cy="438912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500" b="0">
                <a:solidFill>
                  <a:srgbClr val="2A3440"/>
                </a:solidFill>
                <a:latin typeface="Aptos"/>
              </a:rPr>
              <a:t>15,00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Fazendo uma conta no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300" b="1">
                <a:solidFill>
                  <a:srgbClr val="2A3440"/>
                </a:solidFill>
                <a:latin typeface="Aptos"/>
              </a:rPr>
              <a:t>No Excel, as fórmulas começam com o sinal de igual (=).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24128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Para somar, podemos usar: =SOMA(C2:C5)</a:t>
            </a:r>
          </a:p>
          <a:p>
            <a:pPr>
              <a:spcAft>
                <a:spcPts val="14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C2:C5 significa “da célula C2 até a C5”.</a:t>
            </a:r>
          </a:p>
          <a:p>
            <a:pPr>
              <a:spcAft>
                <a:spcPts val="14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Depois de digitar a fórmula, pressione 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983480"/>
            <a:ext cx="8138160" cy="777240"/>
          </a:xfrm>
          <a:prstGeom prst="roundRect">
            <a:avLst/>
          </a:prstGeom>
          <a:solidFill>
            <a:srgbClr val="DDF2E2"/>
          </a:solidFill>
          <a:ln>
            <a:solidFill>
              <a:srgbClr val="279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27946A"/>
                </a:solidFill>
              </a:rPr>
              <a:t>=SOMA(C2:C5)  →  R$ 24,00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Vamos calcular o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100" b="0">
                <a:solidFill>
                  <a:srgbClr val="2A3440"/>
                </a:solidFill>
                <a:latin typeface="Aptos"/>
              </a:rPr>
              <a:t>Na tabela, os preços estão na coluna C.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20240"/>
            <a:ext cx="2560320" cy="50292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920240"/>
            <a:ext cx="2194560" cy="50292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Quantidade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920240"/>
            <a:ext cx="2377440" cy="502920"/>
          </a:xfrm>
          <a:prstGeom prst="rect">
            <a:avLst/>
          </a:prstGeom>
          <a:solidFill>
            <a:srgbClr val="27946A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Preço (R$)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42316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600" b="0">
                <a:solidFill>
                  <a:srgbClr val="2A3440"/>
                </a:solidFill>
                <a:latin typeface="Aptos"/>
              </a:rPr>
              <a:t>Lápis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4231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42316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3,00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926080"/>
            <a:ext cx="256032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600" b="0">
                <a:solidFill>
                  <a:srgbClr val="2A3440"/>
                </a:solidFill>
                <a:latin typeface="Aptos"/>
              </a:rPr>
              <a:t>Borracha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926080"/>
            <a:ext cx="219456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926080"/>
            <a:ext cx="237744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2,00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42900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600" b="0">
                <a:solidFill>
                  <a:srgbClr val="2A3440"/>
                </a:solidFill>
                <a:latin typeface="Aptos"/>
              </a:rPr>
              <a:t>Caderno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4290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42900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15,00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931920"/>
            <a:ext cx="256032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ctr"/>
            <a:r>
              <a:rPr sz="1600" b="0">
                <a:solidFill>
                  <a:srgbClr val="2A3440"/>
                </a:solidFill>
                <a:latin typeface="Aptos"/>
              </a:rPr>
              <a:t>Régua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3931920"/>
            <a:ext cx="219456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931920"/>
            <a:ext cx="2377440" cy="502920"/>
          </a:xfrm>
          <a:prstGeom prst="rect">
            <a:avLst/>
          </a:prstGeom>
          <a:solidFill>
            <a:srgbClr val="DDF2E2"/>
          </a:solidFill>
          <a:ln>
            <a:solidFill>
              <a:srgbClr val="D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36576" rtlCol="0" anchor="ctr"/>
          <a:lstStyle/>
          <a:p>
            <a:pPr algn="l"/>
            <a:r>
              <a:rPr sz="1600" b="0">
                <a:solidFill>
                  <a:srgbClr val="2A3440"/>
                </a:solidFill>
                <a:latin typeface="Aptos"/>
              </a:rPr>
              <a:t>4,00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24128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400" b="1">
                <a:solidFill>
                  <a:srgbClr val="27946A"/>
                </a:solidFill>
                <a:latin typeface="Aptos"/>
              </a:rPr>
              <a:t>Na célula C6, digite:  =SOMA(C2:C5)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800" b="0">
                <a:solidFill>
                  <a:srgbClr val="697480"/>
                </a:solidFill>
                <a:latin typeface="Aptos"/>
              </a:rPr>
              <a:t>Qual será o total? Pense antes de conferir!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Atividade prática: minha lista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424160" cy="7315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200" b="1">
                <a:solidFill>
                  <a:srgbClr val="2A3440"/>
                </a:solidFill>
                <a:latin typeface="Aptos"/>
              </a:rPr>
              <a:t>Agora é sua vez! Crie uma planilha com 4 materiais que você escolher.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2412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Coluna A: nome do material.</a:t>
            </a:r>
          </a:p>
          <a:p>
            <a:pPr>
              <a:spcAft>
                <a:spcPts val="11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Coluna B: quantidade.</a:t>
            </a:r>
          </a:p>
          <a:p>
            <a:pPr>
              <a:spcAft>
                <a:spcPts val="11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Coluna C: preço de cada material.</a:t>
            </a:r>
          </a:p>
          <a:p>
            <a:pPr>
              <a:spcAft>
                <a:spcPts val="11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Formate os títulos com negrito e uma cor.</a:t>
            </a:r>
          </a:p>
          <a:p>
            <a:pPr>
              <a:spcAft>
                <a:spcPts val="11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a fórmula =SOMA(C2:C5) para somar os preços.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700" b="1">
                <a:solidFill>
                  <a:srgbClr val="27946A"/>
                </a:solidFill>
                <a:latin typeface="Aptos"/>
              </a:rPr>
              <a:t>Desafio extra: escolha um emoji ou uma cor para deixar sua tabela com a sua cara.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800" b="1">
                <a:solidFill>
                  <a:srgbClr val="1B304E"/>
                </a:solidFill>
                <a:latin typeface="Aptos"/>
              </a:rPr>
              <a:t>O que aprendemos hoje?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2918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400" b="1">
                <a:solidFill>
                  <a:srgbClr val="69748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Célula = encontro de uma linha com uma coluna.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Planilhas ajudam a organizar informações.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A formatação deixa os dados mais claros.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Fórmulas começam com =.</a:t>
            </a:r>
          </a:p>
          <a:p>
            <a:pPr>
              <a:spcAft>
                <a:spcPts val="15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A função SOMA ajuda a adicionar valores.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300" b="1">
                <a:solidFill>
                  <a:srgbClr val="27946A"/>
                </a:solidFill>
                <a:latin typeface="Aptos"/>
              </a:rPr>
              <a:t>Parabéns! Você criou sua primeira planilha.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14600"/>
            <a:ext cx="9784080" cy="7315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400" b="0">
                <a:solidFill>
                  <a:srgbClr val="E0E9F2"/>
                </a:solidFill>
                <a:latin typeface="Aptos"/>
              </a:rPr>
              <a:t>A tecnologia fica mais fácil quando aprendemos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000" b="1">
                <a:solidFill>
                  <a:srgbClr val="FFDC64"/>
                </a:solidFill>
                <a:latin typeface="Aptos"/>
              </a:rPr>
              <a:t>Pequenos Digitalizados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Dúvidas? Vamos conversar!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644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Henrique Correa</cp:lastModifiedBy>
  <cp:revision>2</cp:revision>
  <dcterms:created xsi:type="dcterms:W3CDTF">2013-01-27T09:14:16Z</dcterms:created>
  <dcterms:modified xsi:type="dcterms:W3CDTF">2026-09-14T00:12:12Z</dcterms:modified>
  <cp:category/>
</cp:coreProperties>
</file>